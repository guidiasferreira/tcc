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B4"/>
    <a:srgbClr val="008CC8"/>
    <a:srgbClr val="0096DC"/>
    <a:srgbClr val="00B4F0"/>
    <a:srgbClr val="0050F0"/>
    <a:srgbClr val="C80000"/>
    <a:srgbClr val="DC0000"/>
    <a:srgbClr val="E60000"/>
    <a:srgbClr val="B00000"/>
    <a:srgbClr val="D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7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do Projeto Integrador do 6º semestre. Tema: comparação de seis modelos pré-treinados de redes neurais convolucionais para classificar condições foliares do tomateiro.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doenças e outras alterações foliares do tomateiro podem provocar prejuízos agrícolas. A inspeção visual é importante, mas pode ser demorada em grandes áreas. O estudo investiga a classificação de condições foliares usando imagens.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Foram utilizadas 18.160 imagens RGB do PlantVillage, divididas em dez classes. Seis arquiteturas pré-treinadas receberam um classificador adaptado para essas classes. A avaliação usou validação cruzada estratificada com cinco folds e várias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validação cruzada, o EfficientNetV2B0 obteve acurácia média de 98,58%, praticamente igual aos 98,57% do EfficientNetV2B3. O comparativo sugere bom desempenho nas imagens PlantVillage, mas ainda não demonstra desempenho em condições reais de lavoura.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276" cy="1971950"/>
          </a:xfrm>
          <a:prstGeom prst="rect">
            <a:avLst/>
          </a:prstGeom>
        </p:spPr>
      </p:pic>
      <p:pic>
        <p:nvPicPr>
          <p:cNvPr id="6" name="Picture 2"/>
          <p:cNvPicPr/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3" b="83643"/>
          <a:stretch/>
        </p:blipFill>
        <p:spPr bwMode="auto">
          <a:xfrm>
            <a:off x="1623848" y="5918303"/>
            <a:ext cx="5897579" cy="9396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110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 userDrawn="1"/>
        </p:nvSpPr>
        <p:spPr>
          <a:xfrm>
            <a:off x="0" y="6366310"/>
            <a:ext cx="9144000" cy="491690"/>
          </a:xfrm>
          <a:prstGeom prst="rect">
            <a:avLst/>
          </a:prstGeom>
          <a:gradFill>
            <a:gsLst>
              <a:gs pos="0">
                <a:srgbClr val="008CC8"/>
              </a:gs>
              <a:gs pos="100000">
                <a:srgbClr val="0064B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350" dirty="0"/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0" y="6465342"/>
            <a:ext cx="9144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200" b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Trabalho de Conclusão de Curso</a:t>
            </a:r>
            <a:r>
              <a:rPr lang="pt-BR" sz="1200" b="1" u="none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Big Data no Agronegócio </a:t>
            </a:r>
            <a:r>
              <a:rPr lang="pt-BR" sz="1200" b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Fatec</a:t>
            </a:r>
            <a:r>
              <a:rPr lang="pt-BR" sz="1200" b="1" u="none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Bebedouro</a:t>
            </a:r>
            <a:endParaRPr lang="pt-BR" sz="1200" b="1" u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0"/>
          </p:nvPr>
        </p:nvSpPr>
        <p:spPr>
          <a:xfrm>
            <a:off x="349250" y="1213659"/>
            <a:ext cx="8445500" cy="4929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873"/>
            <a:ext cx="91440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70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75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981513" y="2041452"/>
            <a:ext cx="719775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2400" b="0" noProof="0" dirty="0">
                <a:solidFill>
                  <a:srgbClr val="37454E"/>
                </a:solidFill>
                <a:latin typeface="Arial"/>
              </a:rPr>
              <a:t>Monografia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1" y="2764160"/>
            <a:ext cx="758210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2000" b="1" noProof="0" dirty="0">
                <a:solidFill>
                  <a:srgbClr val="37454E"/>
                </a:solidFill>
                <a:latin typeface="Arial"/>
              </a:rPr>
              <a:t>Compor um modelo preditivo para detectar doenças</a:t>
            </a:r>
          </a:p>
          <a:p>
            <a:pPr algn="ctr">
              <a:spcAft>
                <a:spcPts val="0"/>
              </a:spcAft>
            </a:pPr>
            <a:r>
              <a:rPr lang="pt-BR" sz="2000" b="1" noProof="0" dirty="0">
                <a:solidFill>
                  <a:srgbClr val="37454E"/>
                </a:solidFill>
                <a:latin typeface="Arial"/>
              </a:rPr>
              <a:t>na cultura do tomateiro por imagens de folhas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81512" y="3704432"/>
            <a:ext cx="719775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2000" b="1" dirty="0">
                <a:solidFill>
                  <a:srgbClr val="37454E"/>
                </a:solidFill>
                <a:latin typeface="Arial"/>
              </a:rPr>
              <a:t>Nome: </a:t>
            </a:r>
            <a:r>
              <a:rPr sz="2000" b="1" dirty="0">
                <a:solidFill>
                  <a:srgbClr val="37454E"/>
                </a:solidFill>
                <a:latin typeface="Arial"/>
              </a:rPr>
              <a:t>Guilherme Dias Ferreira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981511" y="4251847"/>
            <a:ext cx="719775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1600" b="0" noProof="0" dirty="0">
                <a:solidFill>
                  <a:srgbClr val="37454E"/>
                </a:solidFill>
                <a:latin typeface="Arial"/>
              </a:rPr>
              <a:t>Orientador: Prof. Dr. Renan Guilherme Nespolo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981511" y="4777627"/>
            <a:ext cx="719775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1600" dirty="0">
                <a:solidFill>
                  <a:srgbClr val="37454E"/>
                </a:solidFill>
                <a:latin typeface="Arial"/>
              </a:rPr>
              <a:t>Ano: </a:t>
            </a:r>
            <a:r>
              <a:rPr sz="1600" b="0" dirty="0">
                <a:solidFill>
                  <a:srgbClr val="37454E"/>
                </a:solidFill>
                <a:latin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9000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>
          <a:xfrm>
            <a:off x="349250" y="1213659"/>
            <a:ext cx="8445500" cy="5075174"/>
          </a:xfrm>
        </p:spPr>
        <p:txBody>
          <a:bodyPr/>
          <a:lstStyle/>
          <a:p>
            <a:r>
              <a:rPr lang="pt-BR" sz="2000" b="1" dirty="0">
                <a:solidFill>
                  <a:srgbClr val="37454E"/>
                </a:solidFill>
                <a:latin typeface="Arial"/>
              </a:rPr>
              <a:t>O PROBLEMA</a:t>
            </a:r>
          </a:p>
          <a:p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448056" y="1627632"/>
            <a:ext cx="914400" cy="50292"/>
          </a:xfrm>
          <a:prstGeom prst="rect">
            <a:avLst/>
          </a:prstGeom>
          <a:solidFill>
            <a:srgbClr val="00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1784818"/>
            <a:ext cx="827532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pt-BR" sz="1400" b="0" noProof="0" dirty="0">
                <a:solidFill>
                  <a:srgbClr val="6B7880"/>
                </a:solidFill>
                <a:latin typeface="Arial"/>
              </a:rPr>
              <a:t>Alterações nas folhas podem comprometer o desenvolvimento e a produtividade do tomateiro.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2194559"/>
            <a:ext cx="3602736" cy="3010039"/>
          </a:xfrm>
          <a:prstGeom prst="roundRect">
            <a:avLst>
              <a:gd name="adj" fmla="val 9000"/>
            </a:avLst>
          </a:prstGeom>
          <a:solidFill>
            <a:srgbClr val="F5F9FB"/>
          </a:solidFill>
          <a:ln w="8890"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4642318"/>
            <a:ext cx="3465576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277E68"/>
                </a:solidFill>
                <a:latin typeface="Arial"/>
              </a:rPr>
              <a:t>FOLHA SAUDÁVEL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938272"/>
            <a:ext cx="3465576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 dirty="0" err="1">
                <a:solidFill>
                  <a:srgbClr val="6B7880"/>
                </a:solidFill>
                <a:latin typeface="Arial"/>
              </a:rPr>
              <a:t>Exemp</a:t>
            </a:r>
            <a:r>
              <a:rPr lang="pt-BR" sz="1000" b="0" dirty="0" err="1">
                <a:solidFill>
                  <a:srgbClr val="6B7880"/>
                </a:solidFill>
                <a:latin typeface="Arial"/>
              </a:rPr>
              <a:t>lo</a:t>
            </a:r>
            <a:r>
              <a:rPr sz="1000" b="0" dirty="0">
                <a:solidFill>
                  <a:srgbClr val="6B7880"/>
                </a:solidFill>
                <a:latin typeface="Arial"/>
              </a:rPr>
              <a:t> d</a:t>
            </a:r>
            <a:r>
              <a:rPr lang="pt-BR" sz="1000" b="0" dirty="0">
                <a:solidFill>
                  <a:srgbClr val="6B7880"/>
                </a:solidFill>
                <a:latin typeface="Arial"/>
              </a:rPr>
              <a:t>e folha saudável.</a:t>
            </a:r>
            <a:endParaRPr sz="1000" b="0" dirty="0">
              <a:solidFill>
                <a:srgbClr val="6B788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2194560"/>
            <a:ext cx="3602736" cy="3010038"/>
          </a:xfrm>
          <a:prstGeom prst="roundRect">
            <a:avLst>
              <a:gd name="adj" fmla="val 9000"/>
            </a:avLst>
          </a:prstGeom>
          <a:solidFill>
            <a:srgbClr val="F5F9FB"/>
          </a:solidFill>
          <a:ln w="8890"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2" y="4642318"/>
            <a:ext cx="3465576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B0493A"/>
                </a:solidFill>
                <a:latin typeface="Arial"/>
              </a:rPr>
              <a:t>MANCHA-BACTERIANA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4938272"/>
            <a:ext cx="3465576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 dirty="0">
                <a:solidFill>
                  <a:srgbClr val="6B7880"/>
                </a:solidFill>
                <a:latin typeface="Arial"/>
              </a:rPr>
              <a:t>Exemplo de </a:t>
            </a:r>
            <a:r>
              <a:rPr sz="1000" b="0" dirty="0" err="1">
                <a:solidFill>
                  <a:srgbClr val="6B7880"/>
                </a:solidFill>
                <a:latin typeface="Arial"/>
              </a:rPr>
              <a:t>sinto</a:t>
            </a:r>
            <a:r>
              <a:rPr lang="pt-BR" sz="1000" b="0" dirty="0">
                <a:solidFill>
                  <a:srgbClr val="6B7880"/>
                </a:solidFill>
                <a:latin typeface="Arial"/>
              </a:rPr>
              <a:t>m</a:t>
            </a:r>
            <a:r>
              <a:rPr sz="1000" b="0" dirty="0">
                <a:solidFill>
                  <a:srgbClr val="6B7880"/>
                </a:solidFill>
                <a:latin typeface="Arial"/>
              </a:rPr>
              <a:t>a foliar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22392"/>
            <a:ext cx="7863840" cy="502920"/>
          </a:xfrm>
          <a:prstGeom prst="roundRect">
            <a:avLst>
              <a:gd name="adj" fmla="val 9000"/>
            </a:avLst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5524714"/>
            <a:ext cx="755294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55597"/>
                </a:solidFill>
                <a:latin typeface="Arial"/>
              </a:rPr>
              <a:t>Desafio: apoiar a identificação de condições foliares por meio de imagens.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972269"/>
            <a:ext cx="7882127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0" dirty="0">
                <a:solidFill>
                  <a:srgbClr val="6B7880"/>
                </a:solidFill>
                <a:latin typeface="Arial"/>
              </a:rPr>
              <a:t>Imagens: PlantVillage (Ali, s. d.).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CCA7B89B-72DF-FEF9-141C-CE1FAC56E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16" y="2386762"/>
            <a:ext cx="2084476" cy="208447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DF4E30CD-604D-7D43-5AD6-3B956FA24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786" y="2386762"/>
            <a:ext cx="2084476" cy="20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2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000" b="1" dirty="0">
                <a:solidFill>
                  <a:srgbClr val="37454E"/>
                </a:solidFill>
                <a:latin typeface="Arial"/>
              </a:rPr>
              <a:t>A SOLUÇÃO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48056" y="1627632"/>
            <a:ext cx="914400" cy="50292"/>
          </a:xfrm>
          <a:prstGeom prst="rect">
            <a:avLst/>
          </a:prstGeom>
          <a:solidFill>
            <a:srgbClr val="00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1784818"/>
            <a:ext cx="827532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pt-BR" sz="1400" b="0" noProof="0" dirty="0">
                <a:solidFill>
                  <a:srgbClr val="6B7880"/>
                </a:solidFill>
                <a:latin typeface="Arial"/>
              </a:rPr>
              <a:t>Comparação padronizada de seis redes neurais convolucionais pré-treinadas.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2267712"/>
            <a:ext cx="2660904" cy="3099816"/>
          </a:xfrm>
          <a:prstGeom prst="roundRect">
            <a:avLst>
              <a:gd name="adj" fmla="val 9000"/>
            </a:avLst>
          </a:prstGeom>
          <a:solidFill>
            <a:srgbClr val="F5F9FB"/>
          </a:solidFill>
          <a:ln w="8890"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2267712"/>
            <a:ext cx="2660904" cy="68580"/>
          </a:xfrm>
          <a:prstGeom prst="rect">
            <a:avLst/>
          </a:prstGeom>
          <a:solidFill>
            <a:srgbClr val="00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551176"/>
            <a:ext cx="2295144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200" b="1" dirty="0">
                <a:solidFill>
                  <a:srgbClr val="055597"/>
                </a:solidFill>
                <a:latin typeface="Arial"/>
              </a:rPr>
              <a:t>18.160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255264"/>
            <a:ext cx="2340864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dirty="0">
                <a:solidFill>
                  <a:srgbClr val="37454E"/>
                </a:solidFill>
                <a:latin typeface="Arial"/>
              </a:rPr>
              <a:t>IMAGENS RGB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" y="3739896"/>
            <a:ext cx="1773936" cy="23774"/>
          </a:xfrm>
          <a:prstGeom prst="rect">
            <a:avLst/>
          </a:prstGeom>
          <a:solidFill>
            <a:srgbClr val="D9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4188975"/>
            <a:ext cx="2386584" cy="4185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180" b="0" dirty="0">
                <a:solidFill>
                  <a:srgbClr val="6B7880"/>
                </a:solidFill>
                <a:latin typeface="Arial"/>
              </a:rPr>
              <a:t>Folhas do tomateiro, em diferentes condições</a:t>
            </a:r>
            <a:endParaRPr sz="1180" b="0" dirty="0">
              <a:solidFill>
                <a:srgbClr val="6B788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19272" y="2267712"/>
            <a:ext cx="2660904" cy="3099816"/>
          </a:xfrm>
          <a:prstGeom prst="roundRect">
            <a:avLst>
              <a:gd name="adj" fmla="val 9000"/>
            </a:avLst>
          </a:prstGeom>
          <a:solidFill>
            <a:srgbClr val="F5F9FB"/>
          </a:solidFill>
          <a:ln w="8890"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9272" y="2267712"/>
            <a:ext cx="2660904" cy="68580"/>
          </a:xfrm>
          <a:prstGeom prst="rect">
            <a:avLst/>
          </a:prstGeom>
          <a:solidFill>
            <a:srgbClr val="00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2606439"/>
            <a:ext cx="2295144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3200" b="1" dirty="0">
                <a:solidFill>
                  <a:srgbClr val="055597"/>
                </a:solidFill>
                <a:latin typeface="Arial"/>
              </a:rPr>
              <a:t>10</a:t>
            </a:r>
            <a:endParaRPr sz="3200" b="1" dirty="0">
              <a:solidFill>
                <a:srgbClr val="055597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3295028"/>
            <a:ext cx="2340864" cy="286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500" b="1" dirty="0">
                <a:solidFill>
                  <a:srgbClr val="37454E"/>
                </a:solidFill>
                <a:latin typeface="Arial"/>
              </a:rPr>
              <a:t>CONDIÇÕES</a:t>
            </a:r>
            <a:endParaRPr sz="1500" b="1" dirty="0">
              <a:solidFill>
                <a:srgbClr val="37454E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49039" y="3739896"/>
            <a:ext cx="1773936" cy="23774"/>
          </a:xfrm>
          <a:prstGeom prst="rect">
            <a:avLst/>
          </a:prstGeom>
          <a:solidFill>
            <a:srgbClr val="D9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4007387"/>
            <a:ext cx="2386584" cy="7817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180" dirty="0">
                <a:solidFill>
                  <a:srgbClr val="6B7880"/>
                </a:solidFill>
                <a:latin typeface="Arial"/>
              </a:rPr>
              <a:t>Quantidade de </a:t>
            </a:r>
            <a:r>
              <a:rPr lang="pt-BR" sz="1180" b="0" dirty="0">
                <a:solidFill>
                  <a:srgbClr val="6B7880"/>
                </a:solidFill>
                <a:latin typeface="Arial"/>
              </a:rPr>
              <a:t>condições presentes na base de dados, como saudável, mancha-bacteriana e entre outras.</a:t>
            </a:r>
            <a:endParaRPr sz="1180" b="0" dirty="0">
              <a:solidFill>
                <a:srgbClr val="6B7880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63056" y="2267712"/>
            <a:ext cx="2660904" cy="3099816"/>
          </a:xfrm>
          <a:prstGeom prst="roundRect">
            <a:avLst>
              <a:gd name="adj" fmla="val 9000"/>
            </a:avLst>
          </a:prstGeom>
          <a:solidFill>
            <a:srgbClr val="F5F9FB"/>
          </a:solidFill>
          <a:ln w="8890"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2267712"/>
            <a:ext cx="2660904" cy="68580"/>
          </a:xfrm>
          <a:prstGeom prst="rect">
            <a:avLst/>
          </a:prstGeom>
          <a:solidFill>
            <a:srgbClr val="00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2644911"/>
            <a:ext cx="2295144" cy="4708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2700" b="1" dirty="0">
                <a:solidFill>
                  <a:srgbClr val="055597"/>
                </a:solidFill>
                <a:latin typeface="Arial"/>
              </a:rPr>
              <a:t>6</a:t>
            </a:r>
            <a:endParaRPr sz="2700" b="1" dirty="0">
              <a:solidFill>
                <a:srgbClr val="055597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18504" y="3179612"/>
            <a:ext cx="2340864" cy="51706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500" b="1" dirty="0">
                <a:solidFill>
                  <a:srgbClr val="37454E"/>
                </a:solidFill>
                <a:latin typeface="Arial"/>
              </a:rPr>
              <a:t>MODELOS PRÉ-TREINADOS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92824" y="3739896"/>
            <a:ext cx="1773936" cy="23774"/>
          </a:xfrm>
          <a:prstGeom prst="rect">
            <a:avLst/>
          </a:prstGeom>
          <a:solidFill>
            <a:srgbClr val="D9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6" y="3825799"/>
            <a:ext cx="2386584" cy="114492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180" b="0" noProof="0" dirty="0">
                <a:solidFill>
                  <a:srgbClr val="6B7880"/>
                </a:solidFill>
                <a:latin typeface="Arial"/>
              </a:rPr>
              <a:t>MobileNetV3Small</a:t>
            </a:r>
          </a:p>
          <a:p>
            <a:pPr algn="ctr"/>
            <a:r>
              <a:rPr lang="pt-BR" sz="1180" dirty="0">
                <a:solidFill>
                  <a:srgbClr val="6B7880"/>
                </a:solidFill>
                <a:latin typeface="Arial"/>
              </a:rPr>
              <a:t>MobileNetV3Large</a:t>
            </a:r>
            <a:endParaRPr lang="pt-BR" sz="1180" b="0" noProof="0" dirty="0">
              <a:solidFill>
                <a:srgbClr val="6B7880"/>
              </a:solidFill>
              <a:latin typeface="Arial"/>
            </a:endParaRPr>
          </a:p>
          <a:p>
            <a:pPr algn="ctr"/>
            <a:r>
              <a:rPr lang="pt-BR" sz="1180" dirty="0">
                <a:solidFill>
                  <a:srgbClr val="6B7880"/>
                </a:solidFill>
                <a:latin typeface="Arial"/>
              </a:rPr>
              <a:t>EfficientNetV2B0</a:t>
            </a:r>
          </a:p>
          <a:p>
            <a:pPr algn="ctr"/>
            <a:r>
              <a:rPr lang="pt-BR" sz="1180" dirty="0">
                <a:solidFill>
                  <a:srgbClr val="6B7880"/>
                </a:solidFill>
                <a:latin typeface="Arial"/>
              </a:rPr>
              <a:t>EfficientNetV2B3</a:t>
            </a:r>
          </a:p>
          <a:p>
            <a:pPr algn="ctr"/>
            <a:r>
              <a:rPr lang="pt-BR" sz="1180" b="0" noProof="0" dirty="0">
                <a:solidFill>
                  <a:srgbClr val="6B7880"/>
                </a:solidFill>
                <a:latin typeface="Arial"/>
              </a:rPr>
              <a:t>ResNet50V2</a:t>
            </a:r>
          </a:p>
          <a:p>
            <a:pPr algn="ctr"/>
            <a:r>
              <a:rPr lang="pt-BR" sz="1180" dirty="0">
                <a:solidFill>
                  <a:srgbClr val="6B7880"/>
                </a:solidFill>
                <a:latin typeface="Arial"/>
              </a:rPr>
              <a:t>DenseNet121</a:t>
            </a:r>
            <a:endParaRPr lang="pt-BR" sz="1180" b="0" noProof="0" dirty="0">
              <a:solidFill>
                <a:srgbClr val="6B7880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5541264"/>
            <a:ext cx="7918704" cy="512064"/>
          </a:xfrm>
          <a:prstGeom prst="roundRect">
            <a:avLst>
              <a:gd name="adj" fmla="val 9000"/>
            </a:avLst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5614416"/>
            <a:ext cx="7635240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400" b="1" noProof="0">
                <a:solidFill>
                  <a:srgbClr val="055597"/>
                </a:solidFill>
                <a:latin typeface="Arial"/>
              </a:rPr>
              <a:t>Transfer learning: uso de bases ImageNet com camadas finais adaptadas à tarefa.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400" b="1" dirty="0">
                <a:solidFill>
                  <a:srgbClr val="37454E"/>
                </a:solidFill>
                <a:latin typeface="Arial"/>
              </a:rPr>
              <a:t>OS RESULTADOS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48056" y="1627632"/>
            <a:ext cx="914400" cy="50292"/>
          </a:xfrm>
          <a:prstGeom prst="rect">
            <a:avLst/>
          </a:prstGeom>
          <a:solidFill>
            <a:srgbClr val="00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1784818"/>
            <a:ext cx="827532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pt-BR" sz="1400" b="0" noProof="0" dirty="0">
                <a:solidFill>
                  <a:srgbClr val="6B7880"/>
                </a:solidFill>
                <a:latin typeface="Arial"/>
              </a:rPr>
              <a:t>Acurácia média da validação cruzada estratificada (cinco folds).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3035808" cy="3255264"/>
          </a:xfrm>
          <a:prstGeom prst="roundRect">
            <a:avLst>
              <a:gd name="adj" fmla="val 9000"/>
            </a:avLst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507194"/>
            <a:ext cx="270662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055597"/>
                </a:solidFill>
                <a:latin typeface="Arial"/>
              </a:rPr>
              <a:t>DESTAQUE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964281"/>
            <a:ext cx="2807208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600" b="1" dirty="0">
                <a:solidFill>
                  <a:srgbClr val="055597"/>
                </a:solidFill>
                <a:latin typeface="Arial"/>
              </a:rPr>
              <a:t>98,58%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826829"/>
            <a:ext cx="270662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37454E"/>
                </a:solidFill>
                <a:latin typeface="Arial"/>
              </a:rPr>
              <a:t>EfficientNetV2B0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73934"/>
            <a:ext cx="2587752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just"/>
            <a:r>
              <a:rPr lang="pt-BR" sz="1200" b="0" noProof="0" dirty="0">
                <a:solidFill>
                  <a:srgbClr val="6B7880"/>
                </a:solidFill>
                <a:latin typeface="Arial"/>
              </a:rPr>
              <a:t>Maior média numérica, com diferença mínima para a versão B3.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2212848"/>
            <a:ext cx="4937760" cy="3255264"/>
          </a:xfrm>
          <a:prstGeom prst="roundRect">
            <a:avLst>
              <a:gd name="adj" fmla="val 9000"/>
            </a:avLst>
          </a:prstGeom>
          <a:solidFill>
            <a:srgbClr val="F5F9FB"/>
          </a:solidFill>
          <a:ln w="8890"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2" y="2365462"/>
            <a:ext cx="4498848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37454E"/>
                </a:solidFill>
                <a:latin typeface="Arial"/>
              </a:rPr>
              <a:t>ACURÁCIA POR MODELO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8768" y="2715768"/>
            <a:ext cx="4672584" cy="393192"/>
          </a:xfrm>
          <a:prstGeom prst="rect">
            <a:avLst/>
          </a:prstGeom>
          <a:solidFill>
            <a:srgbClr val="EB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14215" y="2754082"/>
            <a:ext cx="325526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 dirty="0">
                <a:solidFill>
                  <a:srgbClr val="055597"/>
                </a:solidFill>
                <a:latin typeface="Arial"/>
              </a:rPr>
              <a:t>EfficientNetV2B0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754082"/>
            <a:ext cx="1078992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1400" b="1" dirty="0">
                <a:solidFill>
                  <a:srgbClr val="055597"/>
                </a:solidFill>
                <a:latin typeface="Arial"/>
              </a:rPr>
              <a:t>98,58%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3165562"/>
            <a:ext cx="325526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>
              <a:defRPr sz="1200" b="0">
                <a:solidFill>
                  <a:srgbClr val="37454E"/>
                </a:solidFill>
                <a:latin typeface="Arial"/>
              </a:defRPr>
            </a:lvl1pPr>
          </a:lstStyle>
          <a:p>
            <a:r>
              <a:rPr sz="1400" dirty="0"/>
              <a:t>EfficientNetV2B3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4" y="3165562"/>
            <a:ext cx="1078992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algn="r">
              <a:defRPr sz="1400" b="0">
                <a:solidFill>
                  <a:srgbClr val="37454E"/>
                </a:solidFill>
                <a:latin typeface="Arial"/>
              </a:defRPr>
            </a:lvl1pPr>
          </a:lstStyle>
          <a:p>
            <a:r>
              <a:rPr dirty="0"/>
              <a:t>98,57%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68" y="3538728"/>
            <a:ext cx="4672584" cy="393192"/>
          </a:xfrm>
          <a:prstGeom prst="rect">
            <a:avLst/>
          </a:prstGeom>
          <a:solidFill>
            <a:srgbClr val="EB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14215" y="3577042"/>
            <a:ext cx="325526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 dirty="0">
                <a:solidFill>
                  <a:srgbClr val="37454E"/>
                </a:solidFill>
                <a:latin typeface="Arial"/>
              </a:rPr>
              <a:t>MobileNetV3Large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3577042"/>
            <a:ext cx="1078992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1400" b="0" dirty="0">
                <a:solidFill>
                  <a:srgbClr val="37454E"/>
                </a:solidFill>
                <a:latin typeface="Arial"/>
              </a:rPr>
              <a:t>97,98%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5" y="3988522"/>
            <a:ext cx="325526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37454E"/>
                </a:solidFill>
                <a:latin typeface="Arial"/>
              </a:rPr>
              <a:t>MobileNetV3Small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3988522"/>
            <a:ext cx="1078992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1400" b="0">
                <a:solidFill>
                  <a:srgbClr val="37454E"/>
                </a:solidFill>
                <a:latin typeface="Arial"/>
              </a:rPr>
              <a:t>97,80%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8768" y="4361688"/>
            <a:ext cx="4672584" cy="393192"/>
          </a:xfrm>
          <a:prstGeom prst="rect">
            <a:avLst/>
          </a:prstGeom>
          <a:solidFill>
            <a:srgbClr val="EB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14215" y="4400002"/>
            <a:ext cx="325526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37454E"/>
                </a:solidFill>
                <a:latin typeface="Arial"/>
              </a:rPr>
              <a:t>DenseNet121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4400002"/>
            <a:ext cx="1078992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1400" b="0">
                <a:solidFill>
                  <a:srgbClr val="37454E"/>
                </a:solidFill>
                <a:latin typeface="Arial"/>
              </a:rPr>
              <a:t>97,60%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5" y="4811482"/>
            <a:ext cx="3255264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37454E"/>
                </a:solidFill>
                <a:latin typeface="Arial"/>
              </a:rPr>
              <a:t>ResNet50V2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811482"/>
            <a:ext cx="1078992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1400" b="0">
                <a:solidFill>
                  <a:srgbClr val="37454E"/>
                </a:solidFill>
                <a:latin typeface="Arial"/>
              </a:rPr>
              <a:t>95,28%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623560"/>
            <a:ext cx="7909560" cy="429768"/>
          </a:xfrm>
          <a:prstGeom prst="roundRect">
            <a:avLst>
              <a:gd name="adj" fmla="val 9000"/>
            </a:avLst>
          </a:prstGeom>
          <a:solidFill>
            <a:srgbClr val="F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5690979"/>
            <a:ext cx="7744968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37454E"/>
                </a:solidFill>
                <a:latin typeface="Arial"/>
              </a:rPr>
              <a:t>Resultados construídos com as imagens adquiridas do dataset PlantVillage.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18C6619-64ED-8B21-B86E-0F146F7999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 algn="ctr"/>
            <a:r>
              <a:rPr lang="pt-BR" sz="8000" b="1" dirty="0">
                <a:solidFill>
                  <a:srgbClr val="055597"/>
                </a:solidFill>
                <a:latin typeface="Arial"/>
              </a:rPr>
              <a:t>OBRIGADO!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874013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</TotalTime>
  <Words>352</Words>
  <Application>Microsoft Office PowerPoint</Application>
  <PresentationFormat>Apresentação na tela (4:3)</PresentationFormat>
  <Paragraphs>56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Gustavo Henrique Del Vechio</dc:creator>
  <cp:lastModifiedBy>Guilherme Dias</cp:lastModifiedBy>
  <cp:revision>35</cp:revision>
  <dcterms:created xsi:type="dcterms:W3CDTF">2017-03-07T17:10:14Z</dcterms:created>
  <dcterms:modified xsi:type="dcterms:W3CDTF">2026-10-28T12:25:01Z</dcterms:modified>
</cp:coreProperties>
</file>